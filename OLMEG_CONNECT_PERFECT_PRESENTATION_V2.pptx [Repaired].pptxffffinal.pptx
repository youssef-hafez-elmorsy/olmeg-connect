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0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1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11" Type="http://schemas.openxmlformats.org/officeDocument/2006/relationships/image" Target="../media/image9.jpg"/><Relationship Id="rId5" Type="http://schemas.openxmlformats.org/officeDocument/2006/relationships/image" Target="../media/image6.jpg"/><Relationship Id="rId10" Type="http://schemas.openxmlformats.org/officeDocument/2006/relationships/image" Target="../media/image10.jpg"/><Relationship Id="rId4" Type="http://schemas.openxmlformats.org/officeDocument/2006/relationships/image" Target="../media/image5.jpg"/><Relationship Id="rId9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7.jpg"/><Relationship Id="rId5" Type="http://schemas.openxmlformats.org/officeDocument/2006/relationships/image" Target="../media/image12.jpg"/><Relationship Id="rId10" Type="http://schemas.openxmlformats.org/officeDocument/2006/relationships/image" Target="../media/image15.jpg"/><Relationship Id="rId4" Type="http://schemas.openxmlformats.org/officeDocument/2006/relationships/image" Target="../media/image3.jpg"/><Relationship Id="rId9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1843" y="8965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2191695" cy="914400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pic>
        <p:nvPicPr>
          <p:cNvPr id="5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95728"/>
            <a:ext cx="58521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39FF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OLMEG CONNECT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999232"/>
            <a:ext cx="5669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Marketplace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456432"/>
            <a:ext cx="5394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+ Firebase app combining marketplace, social feed, chat, notifications, seller tools, and admin moderation.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9516" y="4325112"/>
            <a:ext cx="1298448" cy="347472"/>
          </a:xfrm>
          <a:prstGeom prst="roundRect">
            <a:avLst>
              <a:gd name="adj" fmla="val 42105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453128"/>
            <a:ext cx="1115568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48840" y="4343400"/>
            <a:ext cx="1325880" cy="34747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4407408"/>
            <a:ext cx="11430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Products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11880" y="4343400"/>
            <a:ext cx="1143000" cy="34747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4407408"/>
            <a:ext cx="9601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Handmade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7680" y="5608864"/>
            <a:ext cx="6050280" cy="7919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you need in one place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821424" y="102412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96012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8" name="Image 1" descr="/mnt/data/1000245747.jpg"/>
          <p:cNvPicPr>
            <a:picLocks noChangeAspect="1"/>
          </p:cNvPicPr>
          <p:nvPr/>
        </p:nvPicPr>
        <p:blipFill>
          <a:blip r:embed="rId4"/>
          <a:srcRect l="2163" r="2163"/>
          <a:stretch/>
        </p:blipFill>
        <p:spPr>
          <a:xfrm>
            <a:off x="6830568" y="1024128"/>
            <a:ext cx="1472184" cy="330098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76288" y="395020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49440" y="403250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513064" y="129844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58200" y="123444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23" name="Image 2" descr="/mnt/data/1000245752.jpg"/>
          <p:cNvPicPr>
            <a:picLocks noChangeAspect="1"/>
          </p:cNvPicPr>
          <p:nvPr/>
        </p:nvPicPr>
        <p:blipFill>
          <a:blip r:embed="rId5"/>
          <a:srcRect l="2163" r="2163"/>
          <a:stretch/>
        </p:blipFill>
        <p:spPr>
          <a:xfrm>
            <a:off x="8522208" y="1298448"/>
            <a:ext cx="1472184" cy="330098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567928" y="422452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41080" y="430682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Feed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10204704" y="102412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149840" y="96012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28" name="Image 3" descr="/mnt/data/1000245755.jpg"/>
          <p:cNvPicPr>
            <a:picLocks noChangeAspect="1"/>
          </p:cNvPicPr>
          <p:nvPr/>
        </p:nvPicPr>
        <p:blipFill>
          <a:blip r:embed="rId6"/>
          <a:srcRect l="2163" r="2163"/>
          <a:stretch/>
        </p:blipFill>
        <p:spPr>
          <a:xfrm>
            <a:off x="10213848" y="1024128"/>
            <a:ext cx="1472184" cy="330098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259568" y="395020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332720" y="403250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315200" y="6144768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EELU Graduation Project •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43688" y="43774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Identity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2608" y="6045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Egyptian E-Learning University • Faculty of Computers &amp; Information Technology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73952" y="1095724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8232" y="1152241"/>
            <a:ext cx="5257800" cy="4434840"/>
          </a:xfrm>
          <a:prstGeom prst="roundRect">
            <a:avLst>
              <a:gd name="adj" fmla="val 3299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22592" y="1533180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4050" y="2244368"/>
            <a:ext cx="4709160" cy="3429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Youssef Hafez El Morsy — 2200028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Merna Mohamed Naeim — 2201804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Mina Hany Samir — 2202185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Youssef Abdelmonem Aly — 2201393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Rayan Ahmed — 2201792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Abdelrahman Anwar — 2101962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Mahmoud Haroun — 2100914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Ehab Ibrahim — 2100611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Adham Ahmed Hamdy — 2100309</a:t>
            </a: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tarek</a:t>
            </a: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Mohamed 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</a:t>
            </a: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elhakim</a:t>
            </a: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2101660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1792" y="1067902"/>
            <a:ext cx="498348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6583" y="1088768"/>
            <a:ext cx="4983480" cy="2011680"/>
          </a:xfrm>
          <a:prstGeom prst="roundRect">
            <a:avLst>
              <a:gd name="adj" fmla="val 7273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321" y="1325783"/>
            <a:ext cx="1920647" cy="46342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7882" y="2026227"/>
            <a:ext cx="3209641" cy="86221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Asmaa Hekal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Eng. Mohamed Saied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76072" y="3317471"/>
            <a:ext cx="4983480" cy="2121408"/>
          </a:xfrm>
          <a:prstGeom prst="roundRect">
            <a:avLst>
              <a:gd name="adj" fmla="val 5172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3354191"/>
            <a:ext cx="4983480" cy="2121408"/>
          </a:xfrm>
          <a:prstGeom prst="roundRect">
            <a:avLst>
              <a:gd name="adj" fmla="val 6897"/>
            </a:avLst>
          </a:prstGeom>
          <a:solidFill>
            <a:srgbClr val="1726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7883" y="3542718"/>
            <a:ext cx="3209640" cy="44649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Version &amp; Links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29575" y="4177744"/>
            <a:ext cx="4494178" cy="1075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Version: 2.1.0</a:t>
            </a:r>
            <a:endParaRPr lang="en-US" sz="1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Repository: github.com/Youssef-hafez-elmorsy/OLMEG-Connect</a:t>
            </a:r>
            <a:endParaRPr lang="en-US" sz="1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Hosting: olmeg-connect.web.app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Vision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A unified marketplace ecosystem for buyers, sellers, merchants, and admins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143000"/>
            <a:ext cx="104241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Olmeg Connect transforms a basic shopping app into a complete local commerce platform.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8096" y="20574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011680"/>
            <a:ext cx="1965960" cy="2971800"/>
          </a:xfrm>
          <a:prstGeom prst="roundRect">
            <a:avLst>
              <a:gd name="adj" fmla="val 7442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2761488"/>
            <a:ext cx="16002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New, used, and handmade product discovery with product details, favorites, and search.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099816" y="20574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63240" y="2057400"/>
            <a:ext cx="1965960" cy="2971800"/>
          </a:xfrm>
          <a:prstGeom prst="roundRect">
            <a:avLst>
              <a:gd name="adj" fmla="val 7442"/>
            </a:avLst>
          </a:prstGeom>
          <a:solidFill>
            <a:srgbClr val="17263D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46120" y="2761488"/>
            <a:ext cx="16002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Product-linked chat supports direct negotiation between buyers and sellers.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431536" y="20574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94960" y="2011680"/>
            <a:ext cx="1965960" cy="2971800"/>
          </a:xfrm>
          <a:prstGeom prst="roundRect">
            <a:avLst>
              <a:gd name="adj" fmla="val 7442"/>
            </a:avLst>
          </a:prstGeom>
          <a:solidFill>
            <a:srgbClr val="17263D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3212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577840" y="2761488"/>
            <a:ext cx="16002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feed lets users post products, requests, and marketplace updates.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763256" y="20574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26680" y="2011680"/>
            <a:ext cx="1965960" cy="2971800"/>
          </a:xfrm>
          <a:prstGeom prst="roundRect">
            <a:avLst>
              <a:gd name="adj" fmla="val 7442"/>
            </a:avLst>
          </a:prstGeom>
          <a:solidFill>
            <a:srgbClr val="17263D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7909560" y="2761488"/>
            <a:ext cx="16002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tools and product moderation improve trust and safety.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0049256" y="20574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12680" y="2011680"/>
            <a:ext cx="1965960" cy="2971800"/>
          </a:xfrm>
          <a:prstGeom prst="roundRect">
            <a:avLst>
              <a:gd name="adj" fmla="val 7442"/>
            </a:avLst>
          </a:prstGeom>
          <a:solidFill>
            <a:srgbClr val="17263D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4984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0195560" y="2761488"/>
            <a:ext cx="16002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+ Firebase architecture supports future production expansion.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3152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: “Everything you need in one place.”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Why Olmeg Connect is needed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" y="1508760"/>
            <a:ext cx="4983480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463040"/>
            <a:ext cx="4983480" cy="1600200"/>
          </a:xfrm>
          <a:prstGeom prst="roundRect">
            <a:avLst>
              <a:gd name="adj" fmla="val 9143"/>
            </a:avLst>
          </a:prstGeom>
          <a:solidFill>
            <a:srgbClr val="111F35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45920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platforms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43318" y="2148840"/>
            <a:ext cx="3951642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switch between apps for used items, handmade products, and new products.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345936" y="1508760"/>
            <a:ext cx="4983480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463040"/>
            <a:ext cx="4983480" cy="1600200"/>
          </a:xfrm>
          <a:prstGeom prst="roundRect">
            <a:avLst>
              <a:gd name="adj" fmla="val 9143"/>
            </a:avLst>
          </a:prstGeom>
          <a:solidFill>
            <a:srgbClr val="111F35"/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32320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moderation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32320" y="2176272"/>
            <a:ext cx="3749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fake, or inappropriate listings reduce trust in marketplaces.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59536" y="3703320"/>
            <a:ext cx="4983480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3657600"/>
            <a:ext cx="4983480" cy="1600200"/>
          </a:xfrm>
          <a:prstGeom prst="roundRect">
            <a:avLst>
              <a:gd name="adj" fmla="val 9143"/>
            </a:avLst>
          </a:prstGeom>
          <a:solidFill>
            <a:srgbClr val="111F35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45920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communication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45920" y="4370832"/>
            <a:ext cx="3749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platforms do not provide clear, product-linked chat flows.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345936" y="3703320"/>
            <a:ext cx="4983480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9360" y="3657600"/>
            <a:ext cx="4983480" cy="1600200"/>
          </a:xfrm>
          <a:prstGeom prst="roundRect">
            <a:avLst>
              <a:gd name="adj" fmla="val 9143"/>
            </a:avLst>
          </a:prstGeom>
          <a:solidFill>
            <a:srgbClr val="111F35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132320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admin control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132320" y="4370832"/>
            <a:ext cx="3749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of structured reports and moderation slows platform management.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Ecosystem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One app connecting roles, content, and backend services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3337560"/>
            <a:ext cx="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 flipV="1">
            <a:off x="5989320" y="2304288"/>
            <a:ext cx="3017520" cy="943625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977640" y="3794760"/>
            <a:ext cx="1874520" cy="978405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989320" y="3337560"/>
            <a:ext cx="3337560" cy="173736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pic>
        <p:nvPicPr>
          <p:cNvPr id="14" name="Image 1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606040"/>
            <a:ext cx="1508760" cy="1508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7760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Olmeg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59536" y="128016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123444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7263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1344168"/>
            <a:ext cx="28346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• Search • Chat • Review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449056" y="128016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2480" y="123444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7263D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03920" y="1344168"/>
            <a:ext cx="28346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/ Merchant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• Manage • Orders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859536" y="466344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" y="461772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7263D"/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4400" y="4727448"/>
            <a:ext cx="28346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• Reactions • Sharing</a:t>
            </a: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8449056" y="466344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12480" y="4617720"/>
            <a:ext cx="3017520" cy="1005840"/>
          </a:xfrm>
          <a:prstGeom prst="roundRect">
            <a:avLst>
              <a:gd name="adj" fmla="val 14545"/>
            </a:avLst>
          </a:prstGeom>
          <a:solidFill>
            <a:srgbClr val="17263D"/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03920" y="4727448"/>
            <a:ext cx="28346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 • Notify • Verify</a:t>
            </a: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3803904" y="1712708"/>
            <a:ext cx="953844" cy="583781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05072" y="1847268"/>
            <a:ext cx="47548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517136" y="1017764"/>
            <a:ext cx="731520" cy="564148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92751" y="1179575"/>
            <a:ext cx="664465" cy="32004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07151" y="1078991"/>
            <a:ext cx="627887" cy="45720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431536" y="1179575"/>
            <a:ext cx="475488" cy="32004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083807" y="1051560"/>
            <a:ext cx="664465" cy="53035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181344" y="1179575"/>
            <a:ext cx="475488" cy="32004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03136" y="1077199"/>
            <a:ext cx="1094770" cy="504713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94575" y="1179575"/>
            <a:ext cx="844117" cy="19202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7560564" y="1655064"/>
            <a:ext cx="844117" cy="57607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708392" y="1801368"/>
            <a:ext cx="475488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05</a:t>
            </a:r>
            <a:endParaRPr lang="en-US" sz="9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C302E5D-D0B2-C645-FE91-3776C443936F}"/>
              </a:ext>
            </a:extLst>
          </p:cNvPr>
          <p:cNvCxnSpPr>
            <a:cxnSpLocks/>
          </p:cNvCxnSpPr>
          <p:nvPr/>
        </p:nvCxnSpPr>
        <p:spPr>
          <a:xfrm flipH="1" flipV="1">
            <a:off x="3727884" y="2240280"/>
            <a:ext cx="1429332" cy="736384"/>
          </a:xfrm>
          <a:prstGeom prst="straightConnector1">
            <a:avLst/>
          </a:prstGeom>
          <a:ln>
            <a:tailEnd type="triangle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Journeys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Guest, buyer, seller, and admin workflows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956816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0240" y="118872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129844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31920" y="162763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88536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118872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129844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Register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162763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620256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118872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129844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account type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2624328"/>
            <a:ext cx="1051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956816" y="246888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20240" y="242316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11680" y="253288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/ Search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31920" y="286207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288536" y="246888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51960" y="242316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253288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product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63640" y="286207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620256" y="246888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242316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253288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seller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595360" y="286207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951976" y="246888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15400" y="242316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253288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/ favorite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77240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956816" y="370332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20240" y="365760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11680" y="376732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product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931920" y="409651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288536" y="370332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51960" y="365760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43400" y="376732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check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263640" y="409651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6620256" y="370332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83680" y="365760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75120" y="376732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/ queued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595360" y="409651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8951976" y="370332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915400" y="365760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006840" y="376732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inventory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77240" y="5093208"/>
            <a:ext cx="1051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956816" y="49377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920240" y="489204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011680" y="500176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submissions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3931920" y="533095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4288536" y="49377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251960" y="489204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343400" y="500176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/ reject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6263640" y="533095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6620256" y="49377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583680" y="489204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675120" y="500176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notifications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8595360" y="5330952"/>
            <a:ext cx="29260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8951976" y="49377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915400" y="4892040"/>
            <a:ext cx="196596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006840" y="5001768"/>
            <a:ext cx="17830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reports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/ UX Design Language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Dark modern marketplace interface with neon green identity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32104" y="120700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14300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41.jpg"/>
          <p:cNvPicPr>
            <a:picLocks noChangeAspect="1"/>
          </p:cNvPicPr>
          <p:nvPr/>
        </p:nvPicPr>
        <p:blipFill>
          <a:blip r:embed="rId4"/>
          <a:srcRect l="2163" r="2163"/>
          <a:stretch/>
        </p:blipFill>
        <p:spPr>
          <a:xfrm>
            <a:off x="841248" y="1207008"/>
            <a:ext cx="1472184" cy="33009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6968" y="413308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421538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EN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660904" y="120700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06040" y="114300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42.jpg"/>
          <p:cNvPicPr>
            <a:picLocks noChangeAspect="1"/>
          </p:cNvPicPr>
          <p:nvPr/>
        </p:nvPicPr>
        <p:blipFill>
          <a:blip r:embed="rId5"/>
          <a:srcRect l="2163" r="2163"/>
          <a:stretch/>
        </p:blipFill>
        <p:spPr>
          <a:xfrm>
            <a:off x="2670048" y="1207008"/>
            <a:ext cx="1472184" cy="33009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715768" y="413308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88920" y="421538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RTL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489704" y="1207008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434840" y="1143000"/>
            <a:ext cx="1600200" cy="3429000"/>
          </a:xfrm>
          <a:prstGeom prst="roundRect">
            <a:avLst>
              <a:gd name="adj" fmla="val 12571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22" name="Image 3" descr="/mnt/data/1000245777.jpg"/>
          <p:cNvPicPr>
            <a:picLocks noChangeAspect="1"/>
          </p:cNvPicPr>
          <p:nvPr/>
        </p:nvPicPr>
        <p:blipFill>
          <a:blip r:embed="rId6"/>
          <a:srcRect l="2163" r="2163"/>
          <a:stretch/>
        </p:blipFill>
        <p:spPr>
          <a:xfrm>
            <a:off x="4498848" y="1207008"/>
            <a:ext cx="1472184" cy="330098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544568" y="4133088"/>
            <a:ext cx="13807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17720" y="4215384"/>
            <a:ext cx="1234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665976" y="1280160"/>
            <a:ext cx="4754880" cy="4251960"/>
          </a:xfrm>
          <a:prstGeom prst="roundRect">
            <a:avLst>
              <a:gd name="adj" fmla="val 258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629400" y="1234440"/>
            <a:ext cx="4754880" cy="4251960"/>
          </a:xfrm>
          <a:prstGeom prst="roundRect">
            <a:avLst>
              <a:gd name="adj" fmla="val 3441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90372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90372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Deep dark backgrounds for premium marketplace feel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Neon green accent for identity and CTAs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Rounded cards and reusable components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Bottom navigation shell for quick access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English + Arabic localization support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Light/Dark mode setting prepared</a:t>
            </a: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6940296" y="4709160"/>
            <a:ext cx="201168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903720" y="4663440"/>
            <a:ext cx="201168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9FF14">
                <a:alpha val="75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068312" y="4782312"/>
            <a:ext cx="168249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068312" y="5102352"/>
            <a:ext cx="168249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UX Completion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9180576" y="4709160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144000" y="4663440"/>
            <a:ext cx="1920240" cy="749808"/>
          </a:xfrm>
          <a:prstGeom prst="roundRect">
            <a:avLst>
              <a:gd name="adj" fmla="val 19512"/>
            </a:avLst>
          </a:prstGeom>
          <a:solidFill>
            <a:srgbClr val="17263D"/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08592" y="4782312"/>
            <a:ext cx="1591056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+ AR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308592" y="5102352"/>
            <a:ext cx="159105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 &amp; Search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Product discovery built for fast browsing and filtering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" y="1069848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005840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47.jpg"/>
          <p:cNvPicPr>
            <a:picLocks noChangeAspect="1"/>
          </p:cNvPicPr>
          <p:nvPr/>
        </p:nvPicPr>
        <p:blipFill>
          <a:blip r:embed="rId4"/>
          <a:srcRect l="2611" r="2611"/>
          <a:stretch/>
        </p:blipFill>
        <p:spPr>
          <a:xfrm>
            <a:off x="749808" y="1069848"/>
            <a:ext cx="1700784" cy="38496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5528" y="4544568"/>
            <a:ext cx="16093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4626864"/>
            <a:ext cx="1463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843784" y="1069848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88920" y="1005840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69.jpg"/>
          <p:cNvPicPr>
            <a:picLocks noChangeAspect="1"/>
          </p:cNvPicPr>
          <p:nvPr/>
        </p:nvPicPr>
        <p:blipFill>
          <a:blip r:embed="rId5"/>
          <a:srcRect l="2611" r="2611"/>
          <a:stretch/>
        </p:blipFill>
        <p:spPr>
          <a:xfrm>
            <a:off x="2852928" y="1069848"/>
            <a:ext cx="1700784" cy="38496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898648" y="4544568"/>
            <a:ext cx="16093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971800" y="4626864"/>
            <a:ext cx="1463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Search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946904" y="1069848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1005840"/>
            <a:ext cx="1828800" cy="3977640"/>
          </a:xfrm>
          <a:prstGeom prst="roundRect">
            <a:avLst>
              <a:gd name="adj" fmla="val 11000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22" name="Image 3" descr="/mnt/data/1000245750.jpg"/>
          <p:cNvPicPr>
            <a:picLocks noChangeAspect="1"/>
          </p:cNvPicPr>
          <p:nvPr/>
        </p:nvPicPr>
        <p:blipFill>
          <a:blip r:embed="rId6"/>
          <a:srcRect l="2611" r="2611"/>
          <a:stretch/>
        </p:blipFill>
        <p:spPr>
          <a:xfrm>
            <a:off x="4956048" y="1069848"/>
            <a:ext cx="1700784" cy="384962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01768" y="4544568"/>
            <a:ext cx="160934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74920" y="4626864"/>
            <a:ext cx="1463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Details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260336" y="1280160"/>
            <a:ext cx="4251960" cy="3749040"/>
          </a:xfrm>
          <a:prstGeom prst="roundRect">
            <a:avLst>
              <a:gd name="adj" fmla="val 292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223760" y="1234440"/>
            <a:ext cx="4251960" cy="3749040"/>
          </a:xfrm>
          <a:prstGeom prst="roundRect">
            <a:avLst>
              <a:gd name="adj" fmla="val 3902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552944" y="1485900"/>
            <a:ext cx="3474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49808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/ Used / Handmade sections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Recently viewed products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Advanced search filters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Minimum and maximum price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Availability and condition filters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Ratings and related products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seller contact options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Publishing Workflow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From seller submission to moderated marketplace listing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6384" y="1115568"/>
            <a:ext cx="1874520" cy="4069080"/>
          </a:xfrm>
          <a:prstGeom prst="roundRect">
            <a:avLst>
              <a:gd name="adj" fmla="val 1073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051560"/>
            <a:ext cx="1874520" cy="4069080"/>
          </a:xfrm>
          <a:prstGeom prst="roundRect">
            <a:avLst>
              <a:gd name="adj" fmla="val 10732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54.jpg"/>
          <p:cNvPicPr>
            <a:picLocks noChangeAspect="1"/>
          </p:cNvPicPr>
          <p:nvPr/>
        </p:nvPicPr>
        <p:blipFill>
          <a:blip r:embed="rId4"/>
          <a:srcRect l="2466" r="2466"/>
          <a:stretch/>
        </p:blipFill>
        <p:spPr>
          <a:xfrm>
            <a:off x="795528" y="1115568"/>
            <a:ext cx="1746504" cy="39410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1248" y="4681728"/>
            <a:ext cx="165506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4764024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Product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935224" y="1115568"/>
            <a:ext cx="1874520" cy="4069080"/>
          </a:xfrm>
          <a:prstGeom prst="roundRect">
            <a:avLst>
              <a:gd name="adj" fmla="val 1073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80360" y="1051560"/>
            <a:ext cx="1874520" cy="4069080"/>
          </a:xfrm>
          <a:prstGeom prst="roundRect">
            <a:avLst>
              <a:gd name="adj" fmla="val 10732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51.jpg"/>
          <p:cNvPicPr>
            <a:picLocks noChangeAspect="1"/>
          </p:cNvPicPr>
          <p:nvPr/>
        </p:nvPicPr>
        <p:blipFill>
          <a:blip r:embed="rId5"/>
          <a:srcRect l="2466" r="2466"/>
          <a:stretch/>
        </p:blipFill>
        <p:spPr>
          <a:xfrm>
            <a:off x="2944368" y="1115568"/>
            <a:ext cx="1746504" cy="394106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990088" y="4681728"/>
            <a:ext cx="165506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063240" y="4764024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Contact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669280" y="2194560"/>
            <a:ext cx="100584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726680" y="2194560"/>
            <a:ext cx="100584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784080" y="2194560"/>
            <a:ext cx="100584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4882896" y="1874520"/>
            <a:ext cx="868680" cy="731520"/>
          </a:xfrm>
          <a:prstGeom prst="roundRect">
            <a:avLst>
              <a:gd name="adj" fmla="val 150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1828800"/>
            <a:ext cx="868680" cy="731520"/>
          </a:xfrm>
          <a:prstGeom prst="roundRect">
            <a:avLst>
              <a:gd name="adj" fmla="val 20000"/>
            </a:avLst>
          </a:prstGeom>
          <a:solidFill>
            <a:srgbClr val="17263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37760" y="1938528"/>
            <a:ext cx="68580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Product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711696" y="1874520"/>
            <a:ext cx="1051560" cy="731520"/>
          </a:xfrm>
          <a:prstGeom prst="roundRect">
            <a:avLst>
              <a:gd name="adj" fmla="val 150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75120" y="1828800"/>
            <a:ext cx="1051560" cy="731520"/>
          </a:xfrm>
          <a:prstGeom prst="roundRect">
            <a:avLst>
              <a:gd name="adj" fmla="val 20000"/>
            </a:avLst>
          </a:prstGeom>
          <a:solidFill>
            <a:srgbClr val="17263D"/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766560" y="1938528"/>
            <a:ext cx="8686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769096" y="1874520"/>
            <a:ext cx="1051560" cy="731520"/>
          </a:xfrm>
          <a:prstGeom prst="roundRect">
            <a:avLst>
              <a:gd name="adj" fmla="val 150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732520" y="1828800"/>
            <a:ext cx="1051560" cy="731520"/>
          </a:xfrm>
          <a:prstGeom prst="roundRect">
            <a:avLst>
              <a:gd name="adj" fmla="val 20000"/>
            </a:avLst>
          </a:prstGeom>
          <a:solidFill>
            <a:srgbClr val="17263D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823960" y="1938528"/>
            <a:ext cx="8686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/ submissions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10826496" y="18745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789920" y="1828800"/>
            <a:ext cx="914400" cy="731520"/>
          </a:xfrm>
          <a:prstGeom prst="roundRect">
            <a:avLst>
              <a:gd name="adj" fmla="val 20000"/>
            </a:avLst>
          </a:prstGeom>
          <a:solidFill>
            <a:srgbClr val="17263D"/>
          </a:solidFill>
          <a:ln w="12700">
            <a:solidFill>
              <a:srgbClr val="EF4444">
                <a:alpha val="65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881360" y="1938528"/>
            <a:ext cx="7315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/ Reject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5111496" y="3291840"/>
            <a:ext cx="6492240" cy="1600200"/>
          </a:xfrm>
          <a:prstGeom prst="roundRect">
            <a:avLst>
              <a:gd name="adj" fmla="val 685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074920" y="3246120"/>
            <a:ext cx="6492240" cy="1600200"/>
          </a:xfrm>
          <a:prstGeom prst="roundRect">
            <a:avLst>
              <a:gd name="adj" fmla="val 9143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49240" y="3566160"/>
            <a:ext cx="59436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checks title quality, description length, pricing validity, unsafe keywords, counterfeit/stolen content, weapons, drugs, hacking, and explosives terms.</a:t>
            </a:r>
            <a:endParaRPr lang="en-US" dirty="0"/>
          </a:p>
        </p:txBody>
      </p:sp>
      <p:sp>
        <p:nvSpPr>
          <p:cNvPr id="38" name="Shape 33"/>
          <p:cNvSpPr/>
          <p:nvPr/>
        </p:nvSpPr>
        <p:spPr>
          <a:xfrm>
            <a:off x="5349240" y="4352544"/>
            <a:ext cx="2286000" cy="347472"/>
          </a:xfrm>
          <a:prstGeom prst="roundRect">
            <a:avLst>
              <a:gd name="adj" fmla="val 4210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440680" y="4398264"/>
            <a:ext cx="210312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/>
              <a:t>Ai moderation</a:t>
            </a:r>
          </a:p>
        </p:txBody>
      </p:sp>
      <p:sp>
        <p:nvSpPr>
          <p:cNvPr id="40" name="Text 35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Marketplace Layer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Community posts turn the marketplace into an engagement platform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" y="1024128"/>
            <a:ext cx="1920240" cy="4160520"/>
          </a:xfrm>
          <a:prstGeom prst="roundRect">
            <a:avLst>
              <a:gd name="adj" fmla="val 10476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960120"/>
            <a:ext cx="1920240" cy="4160520"/>
          </a:xfrm>
          <a:prstGeom prst="roundRect">
            <a:avLst>
              <a:gd name="adj" fmla="val 10476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52.jpg"/>
          <p:cNvPicPr>
            <a:picLocks noChangeAspect="1"/>
          </p:cNvPicPr>
          <p:nvPr/>
        </p:nvPicPr>
        <p:blipFill>
          <a:blip r:embed="rId4"/>
          <a:srcRect l="2328" r="2328"/>
          <a:stretch/>
        </p:blipFill>
        <p:spPr>
          <a:xfrm>
            <a:off x="886968" y="1024128"/>
            <a:ext cx="1792224" cy="40325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2688" y="4681728"/>
            <a:ext cx="170078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05840" y="4764024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Posts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026664" y="1024128"/>
            <a:ext cx="1920240" cy="4160520"/>
          </a:xfrm>
          <a:prstGeom prst="roundRect">
            <a:avLst>
              <a:gd name="adj" fmla="val 10476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71800" y="960120"/>
            <a:ext cx="1920240" cy="4160520"/>
          </a:xfrm>
          <a:prstGeom prst="roundRect">
            <a:avLst>
              <a:gd name="adj" fmla="val 10476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53.jpg"/>
          <p:cNvPicPr>
            <a:picLocks noChangeAspect="1"/>
          </p:cNvPicPr>
          <p:nvPr/>
        </p:nvPicPr>
        <p:blipFill>
          <a:blip r:embed="rId5"/>
          <a:srcRect l="2328" r="2328"/>
          <a:stretch/>
        </p:blipFill>
        <p:spPr>
          <a:xfrm>
            <a:off x="3035808" y="1024128"/>
            <a:ext cx="1792224" cy="40325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081528" y="4681728"/>
            <a:ext cx="170078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154680" y="4764024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Details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522976" y="1234440"/>
            <a:ext cx="5806440" cy="3931920"/>
          </a:xfrm>
          <a:prstGeom prst="roundRect">
            <a:avLst>
              <a:gd name="adj" fmla="val 2791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0" y="1188720"/>
            <a:ext cx="5806440" cy="3931920"/>
          </a:xfrm>
          <a:prstGeom prst="roundRect">
            <a:avLst>
              <a:gd name="adj" fmla="val 3721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80644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806440" y="1965960"/>
            <a:ext cx="50749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feed allows users to share items, requests, repairs, handmade work, and marketplace updates. This creates a social-commerce experience rather than a simple product catalog.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806440" y="3246120"/>
            <a:ext cx="50749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Features: posts, images, comments, reactions, shares, filters for All / Made / Wanted, and profile-linked post cards.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Communication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Chat and notifications keep buyers, sellers, and admins connected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" y="1024128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960120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55.jpg"/>
          <p:cNvPicPr>
            <a:picLocks noChangeAspect="1"/>
          </p:cNvPicPr>
          <p:nvPr/>
        </p:nvPicPr>
        <p:blipFill>
          <a:blip r:embed="rId4"/>
          <a:srcRect l="2645" r="2645"/>
          <a:stretch/>
        </p:blipFill>
        <p:spPr>
          <a:xfrm>
            <a:off x="704088" y="1024128"/>
            <a:ext cx="1517904" cy="34381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9808" y="4087368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169664"/>
            <a:ext cx="12801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569464" y="1024128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14600" y="960120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56.jpg"/>
          <p:cNvPicPr>
            <a:picLocks noChangeAspect="1"/>
          </p:cNvPicPr>
          <p:nvPr/>
        </p:nvPicPr>
        <p:blipFill>
          <a:blip r:embed="rId5"/>
          <a:srcRect l="2645" r="2645"/>
          <a:stretch/>
        </p:blipFill>
        <p:spPr>
          <a:xfrm>
            <a:off x="2578608" y="1024128"/>
            <a:ext cx="1517904" cy="34381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624328" y="4087368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697480" y="4169664"/>
            <a:ext cx="12801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Detail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443984" y="1024128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389120" y="960120"/>
            <a:ext cx="1645920" cy="3566160"/>
          </a:xfrm>
          <a:prstGeom prst="roundRect">
            <a:avLst>
              <a:gd name="adj" fmla="val 12222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22" name="Image 3" descr="/mnt/data/1000245757.jpg"/>
          <p:cNvPicPr>
            <a:picLocks noChangeAspect="1"/>
          </p:cNvPicPr>
          <p:nvPr/>
        </p:nvPicPr>
        <p:blipFill>
          <a:blip r:embed="rId6"/>
          <a:srcRect l="2645" r="2645"/>
          <a:stretch/>
        </p:blipFill>
        <p:spPr>
          <a:xfrm>
            <a:off x="4453128" y="1024128"/>
            <a:ext cx="1517904" cy="34381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498848" y="4087368"/>
            <a:ext cx="142646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72000" y="4169664"/>
            <a:ext cx="12801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483096" y="128016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46520" y="1234440"/>
            <a:ext cx="4937760" cy="3657600"/>
          </a:xfrm>
          <a:prstGeom prst="roundRect">
            <a:avLst>
              <a:gd name="adj" fmla="val 4000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2084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Engine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720840" y="1965960"/>
            <a:ext cx="425196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Marketplace inbox groups buying and selling conversations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Product-linked chat improves negotiation context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Cloud Messaging supports notification delivery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broadcasts can notify platform users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 progress is around 80%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Tools &amp; Platform Safety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Role-based controls for moderation, notifications, and reports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" y="1024128"/>
            <a:ext cx="2011680" cy="4370832"/>
          </a:xfrm>
          <a:prstGeom prst="roundRect">
            <a:avLst>
              <a:gd name="adj" fmla="val 10000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960120"/>
            <a:ext cx="2011680" cy="4370832"/>
          </a:xfrm>
          <a:prstGeom prst="roundRect">
            <a:avLst>
              <a:gd name="adj" fmla="val 10000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61.jpg"/>
          <p:cNvPicPr>
            <a:picLocks noChangeAspect="1"/>
          </p:cNvPicPr>
          <p:nvPr/>
        </p:nvPicPr>
        <p:blipFill>
          <a:blip r:embed="rId4"/>
          <a:srcRect l="2379" r="2379"/>
          <a:stretch/>
        </p:blipFill>
        <p:spPr>
          <a:xfrm>
            <a:off x="886968" y="1024128"/>
            <a:ext cx="1883664" cy="42428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2688" y="4892040"/>
            <a:ext cx="179222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05840" y="4974336"/>
            <a:ext cx="16459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Admin-only profile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209544" y="1024128"/>
            <a:ext cx="2011680" cy="4370832"/>
          </a:xfrm>
          <a:prstGeom prst="roundRect">
            <a:avLst>
              <a:gd name="adj" fmla="val 10000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54680" y="960120"/>
            <a:ext cx="2011680" cy="4370832"/>
          </a:xfrm>
          <a:prstGeom prst="roundRect">
            <a:avLst>
              <a:gd name="adj" fmla="val 10000"/>
            </a:avLst>
          </a:prstGeom>
          <a:solidFill>
            <a:srgbClr val="17263D"/>
          </a:solidFill>
          <a:ln w="15875">
            <a:solidFill>
              <a:srgbClr val="39FF14"/>
            </a:solidFill>
            <a:prstDash val="solid"/>
          </a:ln>
        </p:spPr>
      </p:sp>
      <p:pic>
        <p:nvPicPr>
          <p:cNvPr id="17" name="Image 2" descr="/mnt/data/1000245760.jpg"/>
          <p:cNvPicPr>
            <a:picLocks noChangeAspect="1"/>
          </p:cNvPicPr>
          <p:nvPr/>
        </p:nvPicPr>
        <p:blipFill>
          <a:blip r:embed="rId5"/>
          <a:srcRect l="2379" r="2379"/>
          <a:stretch/>
        </p:blipFill>
        <p:spPr>
          <a:xfrm>
            <a:off x="3218688" y="1024128"/>
            <a:ext cx="1883664" cy="424281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64408" y="4892040"/>
            <a:ext cx="1792224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37560" y="4974336"/>
            <a:ext cx="16459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751576" y="1234440"/>
            <a:ext cx="5577840" cy="4160520"/>
          </a:xfrm>
          <a:prstGeom prst="roundRect">
            <a:avLst>
              <a:gd name="adj" fmla="val 263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15000" y="1188720"/>
            <a:ext cx="5577840" cy="4160520"/>
          </a:xfrm>
          <a:prstGeom prst="roundRect">
            <a:avLst>
              <a:gd name="adj" fmla="val 3516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8932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Admin-only capabilities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5989320" y="1874520"/>
            <a:ext cx="470916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Dashboard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Notifications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Moderation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Reports and content safety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 verification support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Account management and sign out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admin UI is only visible for users with an admin role or admin flag.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5989320" y="4709160"/>
            <a:ext cx="2286000" cy="347472"/>
          </a:xfrm>
          <a:prstGeom prst="roundRect">
            <a:avLst>
              <a:gd name="adj" fmla="val 42105"/>
            </a:avLst>
          </a:prstGeom>
          <a:solidFill>
            <a:srgbClr val="17263D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080760" y="4773168"/>
            <a:ext cx="21031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control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Tools and frameworks used to build the project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8096" y="1371600"/>
            <a:ext cx="2514600" cy="3977640"/>
          </a:xfrm>
          <a:prstGeom prst="roundRect">
            <a:avLst>
              <a:gd name="adj" fmla="val 436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325880"/>
            <a:ext cx="2514600" cy="3977640"/>
          </a:xfrm>
          <a:prstGeom prst="roundRect">
            <a:avLst>
              <a:gd name="adj" fmla="val 5818"/>
            </a:avLst>
          </a:prstGeom>
          <a:solidFill>
            <a:srgbClr val="111F35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87552" y="2148840"/>
            <a:ext cx="20116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Flutter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Dart SDK &gt;=3.0.0 &lt;4.0.0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 Design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 theme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English / Arabic localization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621024" y="1371600"/>
            <a:ext cx="2514600" cy="3977640"/>
          </a:xfrm>
          <a:prstGeom prst="roundRect">
            <a:avLst>
              <a:gd name="adj" fmla="val 436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84448" y="1325880"/>
            <a:ext cx="2514600" cy="3977640"/>
          </a:xfrm>
          <a:prstGeom prst="roundRect">
            <a:avLst>
              <a:gd name="adj" fmla="val 5818"/>
            </a:avLst>
          </a:prstGeom>
          <a:solidFill>
            <a:srgbClr val="17263D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67328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&amp; Navigation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840480" y="2148840"/>
            <a:ext cx="20116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Riverpod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StateNotifier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GoRouter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ProviderScope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 redirects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73952" y="1371600"/>
            <a:ext cx="2514600" cy="3977640"/>
          </a:xfrm>
          <a:prstGeom prst="roundRect">
            <a:avLst>
              <a:gd name="adj" fmla="val 436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37376" y="1325880"/>
            <a:ext cx="2514600" cy="3977640"/>
          </a:xfrm>
          <a:prstGeom prst="roundRect">
            <a:avLst>
              <a:gd name="adj" fmla="val 5818"/>
            </a:avLst>
          </a:prstGeom>
          <a:solidFill>
            <a:srgbClr val="111F35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0256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693408" y="2148840"/>
            <a:ext cx="20116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Authentication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Firestore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Storage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Messaging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Hosting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9326880" y="1371600"/>
            <a:ext cx="2514600" cy="3977640"/>
          </a:xfrm>
          <a:prstGeom prst="roundRect">
            <a:avLst>
              <a:gd name="adj" fmla="val 436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90304" y="1325880"/>
            <a:ext cx="2514600" cy="3977640"/>
          </a:xfrm>
          <a:prstGeom prst="roundRect">
            <a:avLst>
              <a:gd name="adj" fmla="val 5818"/>
            </a:avLst>
          </a:prstGeom>
          <a:solidFill>
            <a:srgbClr val="17263D"/>
          </a:solidFill>
          <a:ln w="1270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73184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546336" y="2148840"/>
            <a:ext cx="20116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image_picker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cached_network_image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shimmer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flutter_paypal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flutter_rating_bar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Feature-first Architecture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1"/>
                </a:solidFill>
              </a:rPr>
              <a:t>Scalable structure using layered feature modules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99048" y="1600200"/>
            <a:ext cx="0" cy="54864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99048" y="2788920"/>
            <a:ext cx="0" cy="54864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99048" y="3977640"/>
            <a:ext cx="0" cy="54864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105656" y="1188720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69080" y="1143000"/>
            <a:ext cx="4069080" cy="658368"/>
          </a:xfrm>
          <a:prstGeom prst="roundRect">
            <a:avLst>
              <a:gd name="adj" fmla="val 22222"/>
            </a:avLst>
          </a:prstGeom>
          <a:solidFill>
            <a:srgbClr val="17263D"/>
          </a:solidFill>
          <a:ln w="12700">
            <a:solidFill>
              <a:srgbClr val="39FF14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1252728"/>
            <a:ext cx="3886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UI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 + Widgets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05656" y="2377440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9080" y="2331720"/>
            <a:ext cx="4069080" cy="658368"/>
          </a:xfrm>
          <a:prstGeom prst="roundRect">
            <a:avLst>
              <a:gd name="adj" fmla="val 22222"/>
            </a:avLst>
          </a:prstGeom>
          <a:solidFill>
            <a:srgbClr val="17263D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60520" y="2441448"/>
            <a:ext cx="3886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Riverpod Providers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+ Business Flow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05656" y="3566160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69080" y="3520440"/>
            <a:ext cx="4069080" cy="658368"/>
          </a:xfrm>
          <a:prstGeom prst="roundRect">
            <a:avLst>
              <a:gd name="adj" fmla="val 22222"/>
            </a:avLst>
          </a:prstGeom>
          <a:solidFill>
            <a:srgbClr val="17263D"/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3630168"/>
            <a:ext cx="3886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 + Data Sources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+ Data Layers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05656" y="4754880"/>
            <a:ext cx="4069080" cy="658368"/>
          </a:xfrm>
          <a:prstGeom prst="roundRect">
            <a:avLst>
              <a:gd name="adj" fmla="val 16667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69080" y="4709160"/>
            <a:ext cx="4069080" cy="658368"/>
          </a:xfrm>
          <a:prstGeom prst="roundRect">
            <a:avLst>
              <a:gd name="adj" fmla="val 22222"/>
            </a:avLst>
          </a:prstGeom>
          <a:solidFill>
            <a:srgbClr val="17263D"/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60520" y="4818888"/>
            <a:ext cx="388620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Services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Firestore • Storage • Messaging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8096" y="1188720"/>
            <a:ext cx="2651760" cy="4224528"/>
          </a:xfrm>
          <a:prstGeom prst="roundRect">
            <a:avLst>
              <a:gd name="adj" fmla="val 4138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1143000"/>
            <a:ext cx="2651760" cy="4224528"/>
          </a:xfrm>
          <a:prstGeom prst="roundRect">
            <a:avLst>
              <a:gd name="adj" fmla="val 5517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Modules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05840" y="1920240"/>
            <a:ext cx="210312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/ orders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8860536" y="1188720"/>
            <a:ext cx="2651760" cy="4224528"/>
          </a:xfrm>
          <a:prstGeom prst="roundRect">
            <a:avLst>
              <a:gd name="adj" fmla="val 4138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23960" y="1143000"/>
            <a:ext cx="2651760" cy="4224528"/>
          </a:xfrm>
          <a:prstGeom prst="roundRect">
            <a:avLst>
              <a:gd name="adj" fmla="val 5517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9828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Core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098280" y="1965960"/>
            <a:ext cx="210312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widgets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localization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utils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Firebase Backend &amp; Data Model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Firestore collections supporting the marketplace ecosystem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" y="128016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234440"/>
            <a:ext cx="3154680" cy="1508760"/>
          </a:xfrm>
          <a:prstGeom prst="roundRect">
            <a:avLst>
              <a:gd name="adj" fmla="val 9697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39903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&amp; Access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1801368"/>
            <a:ext cx="2788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sellerProfiles</a:t>
            </a: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merchant_verifications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471416" y="128016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1234440"/>
            <a:ext cx="3154680" cy="1508760"/>
          </a:xfrm>
          <a:prstGeom prst="roundRect">
            <a:avLst>
              <a:gd name="adj" fmla="val 9697"/>
            </a:avLst>
          </a:prstGeom>
          <a:solidFill>
            <a:srgbClr val="17263D"/>
          </a:solidFill>
          <a:ln w="12700">
            <a:solidFill>
              <a:srgbClr val="39FF14">
                <a:alpha val="8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139903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17720" y="1801368"/>
            <a:ext cx="2788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• product_submissions • categories • subcategories • favorites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66176" y="128016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266444"/>
            <a:ext cx="3154680" cy="1508760"/>
          </a:xfrm>
          <a:prstGeom prst="roundRect">
            <a:avLst>
              <a:gd name="adj" fmla="val 9697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139903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1801368"/>
            <a:ext cx="2788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carts • orders • payments • reviews • ratings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2596896" y="384048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3794760"/>
            <a:ext cx="3154680" cy="1655064"/>
          </a:xfrm>
          <a:prstGeom prst="roundRect">
            <a:avLst>
              <a:gd name="adj" fmla="val 9697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7480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0" y="4361687"/>
            <a:ext cx="2788920" cy="103327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chats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notifications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dirty="0" err="1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admin_notifications</a:t>
            </a: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reports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483096" y="384048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6520" y="3794760"/>
            <a:ext cx="3154680" cy="1508760"/>
          </a:xfrm>
          <a:prstGeom prst="roundRect">
            <a:avLst>
              <a:gd name="adj" fmla="val 9697"/>
            </a:avLst>
          </a:prstGeom>
          <a:solidFill>
            <a:srgbClr val="17263D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&amp; Analytics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629400" y="4361688"/>
            <a:ext cx="2788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posts/{id}/comments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analytics_events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2960" y="5742432"/>
            <a:ext cx="10698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note: current Firestore and Storage rules are development-friendly and should be hardened before production release.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Progress &amp; Current Status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Implementation maturity based on current codebase and screenshots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13816" y="11430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097280"/>
            <a:ext cx="5212080" cy="4434840"/>
          </a:xfrm>
          <a:prstGeom prst="roundRect">
            <a:avLst>
              <a:gd name="adj" fmla="val 3299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353312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Progress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43000" y="1965960"/>
            <a:ext cx="2148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UX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43000" y="2258568"/>
            <a:ext cx="4297680" cy="109728"/>
          </a:xfrm>
          <a:prstGeom prst="roundRect">
            <a:avLst>
              <a:gd name="adj" fmla="val 41667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43000" y="2258568"/>
            <a:ext cx="3867912" cy="109728"/>
          </a:xfrm>
          <a:prstGeom prst="roundRect">
            <a:avLst>
              <a:gd name="adj" fmla="val 41667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2651760"/>
            <a:ext cx="2148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/ Firebase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37760" y="265176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43000" y="2944368"/>
            <a:ext cx="4297680" cy="109728"/>
          </a:xfrm>
          <a:prstGeom prst="roundRect">
            <a:avLst>
              <a:gd name="adj" fmla="val 41667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43000" y="2880360"/>
            <a:ext cx="3867912" cy="173736"/>
          </a:xfrm>
          <a:prstGeom prst="roundRect">
            <a:avLst>
              <a:gd name="adj" fmla="val 41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3337560"/>
            <a:ext cx="2148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System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37760" y="333756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43000" y="3630168"/>
            <a:ext cx="4297680" cy="109728"/>
          </a:xfrm>
          <a:prstGeom prst="roundRect">
            <a:avLst>
              <a:gd name="adj" fmla="val 41667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43000" y="3602736"/>
            <a:ext cx="3867912" cy="137160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" y="4023360"/>
            <a:ext cx="2148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Moderation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402336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43000" y="4315968"/>
            <a:ext cx="4297680" cy="109728"/>
          </a:xfrm>
          <a:prstGeom prst="roundRect">
            <a:avLst>
              <a:gd name="adj" fmla="val 41667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43000" y="4315968"/>
            <a:ext cx="3020438" cy="173736"/>
          </a:xfrm>
          <a:prstGeom prst="roundRect">
            <a:avLst>
              <a:gd name="adj" fmla="val 41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4709160"/>
            <a:ext cx="21488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470916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43000" y="5001768"/>
            <a:ext cx="4297680" cy="109728"/>
          </a:xfrm>
          <a:prstGeom prst="roundRect">
            <a:avLst>
              <a:gd name="adj" fmla="val 41667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42999" y="4910328"/>
            <a:ext cx="3020437" cy="201168"/>
          </a:xfrm>
          <a:prstGeom prst="roundRect">
            <a:avLst>
              <a:gd name="adj" fmla="val 41667"/>
            </a:avLst>
          </a:prstGeom>
          <a:solidFill>
            <a:srgbClr val="FFC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37376" y="1143000"/>
            <a:ext cx="4983480" cy="4434840"/>
          </a:xfrm>
          <a:prstGeom prst="roundRect">
            <a:avLst>
              <a:gd name="adj" fmla="val 247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0" y="1097280"/>
            <a:ext cx="4983480" cy="4434840"/>
          </a:xfrm>
          <a:prstGeom prst="roundRect">
            <a:avLst>
              <a:gd name="adj" fmla="val 3299"/>
            </a:avLst>
          </a:prstGeom>
          <a:solidFill>
            <a:srgbClr val="1726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75120" y="1353312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Evidence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675120" y="1920240"/>
            <a:ext cx="434340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Widget smoke test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Cart total validation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creation tests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 delivery eligibility tests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authentication testing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 and web demo testing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Responsive layout evaluation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675120" y="4434840"/>
            <a:ext cx="43434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UI issue identified: product details overflow in one screen. The planned fix is using SafeArea, SingleChildScrollView, and adaptive bottom actions.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&amp; Future Improvements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How Olmeg Connect can become production-ready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0976" y="1600200"/>
            <a:ext cx="3063240" cy="3474720"/>
          </a:xfrm>
          <a:prstGeom prst="roundRect">
            <a:avLst>
              <a:gd name="adj" fmla="val 3582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554480"/>
            <a:ext cx="3063240" cy="3474720"/>
          </a:xfrm>
          <a:prstGeom prst="roundRect">
            <a:avLst>
              <a:gd name="adj" fmla="val 4776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2514600"/>
            <a:ext cx="24231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marketplace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80%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tools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backend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54296" y="1600200"/>
            <a:ext cx="3063240" cy="3474720"/>
          </a:xfrm>
          <a:prstGeom prst="roundRect">
            <a:avLst>
              <a:gd name="adj" fmla="val 3582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554480"/>
            <a:ext cx="3063240" cy="3474720"/>
          </a:xfrm>
          <a:prstGeom prst="roundRect">
            <a:avLst>
              <a:gd name="adj" fmla="val 4776"/>
            </a:avLst>
          </a:prstGeom>
          <a:solidFill>
            <a:srgbClr val="111F35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937760" y="2514600"/>
            <a:ext cx="24231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PayPal flow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rules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responsive UI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Functions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57616" y="1600200"/>
            <a:ext cx="3063240" cy="3474720"/>
          </a:xfrm>
          <a:prstGeom prst="roundRect">
            <a:avLst>
              <a:gd name="adj" fmla="val 3582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554480"/>
            <a:ext cx="3063240" cy="3474720"/>
          </a:xfrm>
          <a:prstGeom prst="roundRect">
            <a:avLst>
              <a:gd name="adj" fmla="val 4776"/>
            </a:avLst>
          </a:prstGeom>
          <a:solidFill>
            <a:srgbClr val="111F35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641080" y="2514600"/>
            <a:ext cx="24231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moderation APIs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recommendations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tracking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Store release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468880" y="5349240"/>
            <a:ext cx="7223760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95728" y="5276088"/>
            <a:ext cx="146304" cy="146304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9048" y="5276088"/>
            <a:ext cx="146304" cy="146304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19488" y="5276088"/>
            <a:ext cx="146304" cy="146304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Matrix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Current feature state from repository analysis and live app screenshots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8096" y="1188720"/>
            <a:ext cx="10835640" cy="4800600"/>
          </a:xfrm>
          <a:prstGeom prst="roundRect">
            <a:avLst>
              <a:gd name="adj" fmla="val 2286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143000"/>
            <a:ext cx="10835640" cy="4800600"/>
          </a:xfrm>
          <a:prstGeom prst="roundRect">
            <a:avLst>
              <a:gd name="adj" fmla="val 3048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1417320"/>
            <a:ext cx="6217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Notes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1764792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17263D"/>
          </a:solidFill>
          <a:ln w="12700">
            <a:solidFill>
              <a:srgbClr val="172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1828800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3520440" y="1828800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4800600" y="1828800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register, merchant account, admin detection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14400" y="2185416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2249424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970" dirty="0"/>
          </a:p>
        </p:txBody>
      </p:sp>
      <p:sp>
        <p:nvSpPr>
          <p:cNvPr id="21" name="Text 18"/>
          <p:cNvSpPr/>
          <p:nvPr/>
        </p:nvSpPr>
        <p:spPr>
          <a:xfrm>
            <a:off x="3520440" y="2249424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4800600" y="2249424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Home, product cards, details, categories, favorites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914400" y="2606040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17263D"/>
          </a:solidFill>
          <a:ln w="12700">
            <a:solidFill>
              <a:srgbClr val="172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2670048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3520440" y="2670048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4800600" y="2670048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screen, advanced search, filters, sort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914400" y="3026664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" y="3090672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Feed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3520440" y="3090672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4800600" y="3090672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Posts, reactions, comments, sharing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914400" y="3447288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17263D"/>
          </a:solidFill>
          <a:ln w="12700">
            <a:solidFill>
              <a:srgbClr val="172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4128" y="3511296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3520440" y="3511296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970" dirty="0"/>
          </a:p>
        </p:txBody>
      </p:sp>
      <p:sp>
        <p:nvSpPr>
          <p:cNvPr id="34" name="Text 31"/>
          <p:cNvSpPr/>
          <p:nvPr/>
        </p:nvSpPr>
        <p:spPr>
          <a:xfrm>
            <a:off x="4800600" y="3511296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Product-linked buyer/seller conversations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914400" y="3867912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3931920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970" dirty="0"/>
          </a:p>
        </p:txBody>
      </p:sp>
      <p:sp>
        <p:nvSpPr>
          <p:cNvPr id="37" name="Text 34"/>
          <p:cNvSpPr/>
          <p:nvPr/>
        </p:nvSpPr>
        <p:spPr>
          <a:xfrm>
            <a:off x="3520440" y="3931920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38" name="Text 35"/>
          <p:cNvSpPr/>
          <p:nvPr/>
        </p:nvSpPr>
        <p:spPr>
          <a:xfrm>
            <a:off x="4800600" y="3931920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screen + FCM service</a:t>
            </a:r>
            <a:endParaRPr lang="en-US" sz="940" dirty="0"/>
          </a:p>
        </p:txBody>
      </p:sp>
      <p:sp>
        <p:nvSpPr>
          <p:cNvPr id="39" name="Shape 36"/>
          <p:cNvSpPr/>
          <p:nvPr/>
        </p:nvSpPr>
        <p:spPr>
          <a:xfrm>
            <a:off x="914400" y="4288536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17263D"/>
          </a:solidFill>
          <a:ln w="12700">
            <a:solidFill>
              <a:srgbClr val="1726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4128" y="4352544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Panel</a:t>
            </a:r>
            <a:endParaRPr lang="en-US" sz="970" dirty="0"/>
          </a:p>
        </p:txBody>
      </p:sp>
      <p:sp>
        <p:nvSpPr>
          <p:cNvPr id="41" name="Text 38"/>
          <p:cNvSpPr/>
          <p:nvPr/>
        </p:nvSpPr>
        <p:spPr>
          <a:xfrm>
            <a:off x="3520440" y="4352544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970" dirty="0"/>
          </a:p>
        </p:txBody>
      </p:sp>
      <p:sp>
        <p:nvSpPr>
          <p:cNvPr id="42" name="Text 39"/>
          <p:cNvSpPr/>
          <p:nvPr/>
        </p:nvSpPr>
        <p:spPr>
          <a:xfrm>
            <a:off x="4800600" y="4352544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dashboard, notifications, moderation access</a:t>
            </a:r>
            <a:endParaRPr lang="en-US" sz="940" dirty="0"/>
          </a:p>
        </p:txBody>
      </p:sp>
      <p:sp>
        <p:nvSpPr>
          <p:cNvPr id="43" name="Shape 40"/>
          <p:cNvSpPr/>
          <p:nvPr/>
        </p:nvSpPr>
        <p:spPr>
          <a:xfrm>
            <a:off x="914400" y="4709160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20324B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4128" y="4773168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Moderation</a:t>
            </a:r>
            <a:endParaRPr lang="en-US" sz="970" dirty="0"/>
          </a:p>
        </p:txBody>
      </p:sp>
      <p:sp>
        <p:nvSpPr>
          <p:cNvPr id="45" name="Text 42"/>
          <p:cNvSpPr/>
          <p:nvPr/>
        </p:nvSpPr>
        <p:spPr>
          <a:xfrm>
            <a:off x="3520440" y="4773168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970" dirty="0"/>
          </a:p>
        </p:txBody>
      </p:sp>
      <p:sp>
        <p:nvSpPr>
          <p:cNvPr id="46" name="Text 43"/>
          <p:cNvSpPr/>
          <p:nvPr/>
        </p:nvSpPr>
        <p:spPr>
          <a:xfrm>
            <a:off x="4800600" y="4773168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moderation, future AI API</a:t>
            </a:r>
            <a:endParaRPr lang="en-US" sz="940" dirty="0"/>
          </a:p>
        </p:txBody>
      </p:sp>
      <p:sp>
        <p:nvSpPr>
          <p:cNvPr id="47" name="Shape 44"/>
          <p:cNvSpPr/>
          <p:nvPr/>
        </p:nvSpPr>
        <p:spPr>
          <a:xfrm>
            <a:off x="914400" y="5129784"/>
            <a:ext cx="10378440" cy="310896"/>
          </a:xfrm>
          <a:prstGeom prst="roundRect">
            <a:avLst>
              <a:gd name="adj" fmla="val 14706"/>
            </a:avLst>
          </a:prstGeom>
          <a:solidFill>
            <a:srgbClr val="17263D"/>
          </a:solidFill>
          <a:ln w="12700">
            <a:solidFill>
              <a:srgbClr val="172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4128" y="5193792"/>
            <a:ext cx="22860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970" dirty="0"/>
          </a:p>
        </p:txBody>
      </p:sp>
      <p:sp>
        <p:nvSpPr>
          <p:cNvPr id="49" name="Text 46"/>
          <p:cNvSpPr/>
          <p:nvPr/>
        </p:nvSpPr>
        <p:spPr>
          <a:xfrm>
            <a:off x="3520440" y="5193792"/>
            <a:ext cx="100584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970" dirty="0"/>
          </a:p>
        </p:txBody>
      </p:sp>
      <p:sp>
        <p:nvSpPr>
          <p:cNvPr id="50" name="Text 47"/>
          <p:cNvSpPr/>
          <p:nvPr/>
        </p:nvSpPr>
        <p:spPr>
          <a:xfrm>
            <a:off x="4800600" y="5193792"/>
            <a:ext cx="621792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4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PayPal package and payment records, full flow planned</a:t>
            </a:r>
            <a:endParaRPr lang="en-US" sz="940" dirty="0"/>
          </a:p>
        </p:txBody>
      </p:sp>
      <p:sp>
        <p:nvSpPr>
          <p:cNvPr id="51" name="Text 48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Codebase Structure &amp; Navigation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Feature-first Flutter project with protected GoRouter routes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" y="118872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143000"/>
            <a:ext cx="5257800" cy="4434840"/>
          </a:xfrm>
          <a:prstGeom prst="roundRect">
            <a:avLst>
              <a:gd name="adj" fmla="val 3299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Files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60120" y="1874520"/>
            <a:ext cx="4572000" cy="2788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lib/main.dart — app entry point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lib/firebase_options.dart — FlutterFire config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lib/core/router/app_router.dart — GoRouter routes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lib/core/services/notification_service.dart — FCM setup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firestore.rules — database rules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storage.rules — media rules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firebase.json — hosting / functions / rules config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437376" y="118872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143000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1726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Routes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675120" y="1901952"/>
            <a:ext cx="438912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/login  /register  /home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/product/:id  /cart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/create-post  /chats  /chat/:id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/settings  /favorites  /my-products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/privacy-policy  /terms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/search  /advanced-search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/notifications</a:t>
            </a:r>
            <a:endParaRPr lang="en-US" sz="2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  /admin/notify  /admin/moderation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Production Readiness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What is implemented now and what must be hardened before release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13816" y="11887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143000"/>
            <a:ext cx="5120640" cy="4389120"/>
          </a:xfrm>
          <a:prstGeom prst="roundRect">
            <a:avLst>
              <a:gd name="adj" fmla="val 3333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Security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51560" y="1874520"/>
            <a:ext cx="43891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Firebase Authentication protects app access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Router redirects unauthenticated users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Admin-only UI appears based on user role/admin flag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submissions can be reviewed by admin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FCM token storage supports personalized notifications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note: repository rules are currently development-friendly and must be tightened before production.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37376" y="118872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143000"/>
            <a:ext cx="5029200" cy="4389120"/>
          </a:xfrm>
          <a:prstGeom prst="roundRect">
            <a:avLst>
              <a:gd name="adj" fmla="val 3333"/>
            </a:avLst>
          </a:prstGeom>
          <a:solidFill>
            <a:srgbClr val="17263D"/>
          </a:solidFill>
          <a:ln w="1270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Hardening Plan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75120" y="1874520"/>
            <a:ext cx="434340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Restrict product writes to owners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Restrict admin collections to admins only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Storage uploads by user path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Cloud Functions for trusted payment validation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report abuse workflow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merchant verification data</a:t>
            </a:r>
            <a:endParaRPr lang="en-US" sz="1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Firestore indexes and access patterns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 Gallery I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Authentication, marketplace, search, and product publishing screens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41.jpg"/>
          <p:cNvPicPr>
            <a:picLocks noChangeAspect="1"/>
          </p:cNvPicPr>
          <p:nvPr/>
        </p:nvPicPr>
        <p:blipFill>
          <a:blip r:embed="rId4"/>
          <a:srcRect l="3712" r="3712"/>
          <a:stretch/>
        </p:blipFill>
        <p:spPr>
          <a:xfrm>
            <a:off x="749808" y="1115568"/>
            <a:ext cx="950976" cy="22037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552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EN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92024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EN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57530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2044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18" name="Image 2" descr="/mnt/data/1000245742.jpg"/>
          <p:cNvPicPr>
            <a:picLocks noChangeAspect="1"/>
          </p:cNvPicPr>
          <p:nvPr/>
        </p:nvPicPr>
        <p:blipFill>
          <a:blip r:embed="rId5"/>
          <a:srcRect l="3712" r="3712"/>
          <a:stretch/>
        </p:blipFill>
        <p:spPr>
          <a:xfrm>
            <a:off x="3584448" y="1115568"/>
            <a:ext cx="950976" cy="22037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3016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70332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AR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75488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AR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994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508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24" name="Image 3" descr="/mnt/data/1000245745.jpg"/>
          <p:cNvPicPr>
            <a:picLocks noChangeAspect="1"/>
          </p:cNvPicPr>
          <p:nvPr/>
        </p:nvPicPr>
        <p:blipFill>
          <a:blip r:embed="rId6"/>
          <a:srcRect l="3712" r="3712"/>
          <a:stretch/>
        </p:blipFill>
        <p:spPr>
          <a:xfrm>
            <a:off x="6419088" y="1115568"/>
            <a:ext cx="950976" cy="22037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6480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3796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58952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24458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8972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30" name="Image 4" descr="/mnt/data/1000245746.jpg"/>
          <p:cNvPicPr>
            <a:picLocks noChangeAspect="1"/>
          </p:cNvPicPr>
          <p:nvPr/>
        </p:nvPicPr>
        <p:blipFill>
          <a:blip r:embed="rId7"/>
          <a:srcRect l="3712" r="3712"/>
          <a:stretch/>
        </p:blipFill>
        <p:spPr>
          <a:xfrm>
            <a:off x="9253728" y="1115568"/>
            <a:ext cx="950976" cy="220370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29944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37260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042416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4066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8580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36" name="Image 5" descr="/mnt/data/1000245747.jpg"/>
          <p:cNvPicPr>
            <a:picLocks noChangeAspect="1"/>
          </p:cNvPicPr>
          <p:nvPr/>
        </p:nvPicPr>
        <p:blipFill>
          <a:blip r:embed="rId8"/>
          <a:srcRect l="3712" r="3712"/>
          <a:stretch/>
        </p:blipFill>
        <p:spPr>
          <a:xfrm>
            <a:off x="749808" y="3858768"/>
            <a:ext cx="950976" cy="220370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79552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6868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192024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357530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52044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42" name="Image 6" descr="/mnt/data/1000245769.jpg"/>
          <p:cNvPicPr>
            <a:picLocks noChangeAspect="1"/>
          </p:cNvPicPr>
          <p:nvPr/>
        </p:nvPicPr>
        <p:blipFill>
          <a:blip r:embed="rId9"/>
          <a:srcRect l="3712" r="3712"/>
          <a:stretch/>
        </p:blipFill>
        <p:spPr>
          <a:xfrm>
            <a:off x="3584448" y="3858768"/>
            <a:ext cx="950976" cy="220370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63016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370332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75488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640994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35508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48" name="Image 7" descr="/mnt/data/1000245754.jpg"/>
          <p:cNvPicPr>
            <a:picLocks noChangeAspect="1"/>
          </p:cNvPicPr>
          <p:nvPr/>
        </p:nvPicPr>
        <p:blipFill>
          <a:blip r:embed="rId10"/>
          <a:srcRect l="3712" r="3712"/>
          <a:stretch/>
        </p:blipFill>
        <p:spPr>
          <a:xfrm>
            <a:off x="6419088" y="3858768"/>
            <a:ext cx="950976" cy="2203704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46480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53796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Product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758952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Product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924458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918972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54" name="Image 8" descr="/mnt/data/1000245750.jpg"/>
          <p:cNvPicPr>
            <a:picLocks noChangeAspect="1"/>
          </p:cNvPicPr>
          <p:nvPr/>
        </p:nvPicPr>
        <p:blipFill>
          <a:blip r:embed="rId11"/>
          <a:srcRect l="3712" r="3712"/>
          <a:stretch/>
        </p:blipFill>
        <p:spPr>
          <a:xfrm>
            <a:off x="9253728" y="3858768"/>
            <a:ext cx="950976" cy="2203704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929944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937260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</a:t>
            </a:r>
            <a:endParaRPr lang="en-US" sz="800" dirty="0"/>
          </a:p>
        </p:txBody>
      </p:sp>
      <p:sp>
        <p:nvSpPr>
          <p:cNvPr id="57" name="Text 46"/>
          <p:cNvSpPr/>
          <p:nvPr/>
        </p:nvSpPr>
        <p:spPr>
          <a:xfrm>
            <a:off x="1042416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 Gallery II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Social, communication, notification, profile, settings, and admin screens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12" name="Image 1" descr="/mnt/data/1000245752.jpg"/>
          <p:cNvPicPr>
            <a:picLocks noChangeAspect="1"/>
          </p:cNvPicPr>
          <p:nvPr/>
        </p:nvPicPr>
        <p:blipFill>
          <a:blip r:embed="rId4"/>
          <a:srcRect l="3712" r="3712"/>
          <a:stretch/>
        </p:blipFill>
        <p:spPr>
          <a:xfrm>
            <a:off x="749808" y="1115568"/>
            <a:ext cx="950976" cy="22037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552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Feed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92024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Feed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57530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2044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18" name="Image 2" descr="/mnt/data/1000245753.jpg"/>
          <p:cNvPicPr>
            <a:picLocks noChangeAspect="1"/>
          </p:cNvPicPr>
          <p:nvPr/>
        </p:nvPicPr>
        <p:blipFill>
          <a:blip r:embed="rId5"/>
          <a:srcRect l="3712" r="3712"/>
          <a:stretch/>
        </p:blipFill>
        <p:spPr>
          <a:xfrm>
            <a:off x="3584448" y="1115568"/>
            <a:ext cx="950976" cy="22037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3016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70332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Card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75488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Card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994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508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24" name="Image 3" descr="/mnt/data/1000245755.jpg"/>
          <p:cNvPicPr>
            <a:picLocks noChangeAspect="1"/>
          </p:cNvPicPr>
          <p:nvPr/>
        </p:nvPicPr>
        <p:blipFill>
          <a:blip r:embed="rId6"/>
          <a:srcRect l="3712" r="3712"/>
          <a:stretch/>
        </p:blipFill>
        <p:spPr>
          <a:xfrm>
            <a:off x="6419088" y="1115568"/>
            <a:ext cx="950976" cy="22037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6480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3796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List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58952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List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244584" y="11155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89720" y="10515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30" name="Image 4" descr="/mnt/data/1000245756.jpg"/>
          <p:cNvPicPr>
            <a:picLocks noChangeAspect="1"/>
          </p:cNvPicPr>
          <p:nvPr/>
        </p:nvPicPr>
        <p:blipFill>
          <a:blip r:embed="rId7"/>
          <a:srcRect l="3712" r="3712"/>
          <a:stretch/>
        </p:blipFill>
        <p:spPr>
          <a:xfrm>
            <a:off x="9253728" y="1115568"/>
            <a:ext cx="950976" cy="220370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299448" y="29443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372600" y="30266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Detail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0424160" y="19202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Detail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4066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8580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36" name="Image 5" descr="/mnt/data/1000245757.jpg"/>
          <p:cNvPicPr>
            <a:picLocks noChangeAspect="1"/>
          </p:cNvPicPr>
          <p:nvPr/>
        </p:nvPicPr>
        <p:blipFill>
          <a:blip r:embed="rId8"/>
          <a:srcRect l="3712" r="3712"/>
          <a:stretch/>
        </p:blipFill>
        <p:spPr>
          <a:xfrm>
            <a:off x="749808" y="3858768"/>
            <a:ext cx="950976" cy="220370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79552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6868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192024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357530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52044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42" name="Image 6" descr="/mnt/data/1000245760.jpg"/>
          <p:cNvPicPr>
            <a:picLocks noChangeAspect="1"/>
          </p:cNvPicPr>
          <p:nvPr/>
        </p:nvPicPr>
        <p:blipFill>
          <a:blip r:embed="rId9"/>
          <a:srcRect l="3712" r="3712"/>
          <a:stretch/>
        </p:blipFill>
        <p:spPr>
          <a:xfrm>
            <a:off x="3584448" y="3858768"/>
            <a:ext cx="950976" cy="220370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63016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370332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75488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640994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35508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48" name="Image 7" descr="/mnt/data/1000245761.jpg"/>
          <p:cNvPicPr>
            <a:picLocks noChangeAspect="1"/>
          </p:cNvPicPr>
          <p:nvPr/>
        </p:nvPicPr>
        <p:blipFill>
          <a:blip r:embed="rId10"/>
          <a:srcRect l="3712" r="3712"/>
          <a:stretch/>
        </p:blipFill>
        <p:spPr>
          <a:xfrm>
            <a:off x="6419088" y="3858768"/>
            <a:ext cx="950976" cy="2203704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46480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53796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Access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758952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Access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9244584" y="3858768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9189720" y="3794760"/>
            <a:ext cx="1078992" cy="2331720"/>
          </a:xfrm>
          <a:prstGeom prst="roundRect">
            <a:avLst>
              <a:gd name="adj" fmla="val 18644"/>
            </a:avLst>
          </a:prstGeom>
          <a:solidFill>
            <a:srgbClr val="17263D"/>
          </a:solidFill>
          <a:ln w="8890">
            <a:solidFill>
              <a:srgbClr val="39FF14"/>
            </a:solidFill>
            <a:prstDash val="solid"/>
          </a:ln>
        </p:spPr>
      </p:sp>
      <p:pic>
        <p:nvPicPr>
          <p:cNvPr id="54" name="Image 8" descr="/mnt/data/1000245777.jpg"/>
          <p:cNvPicPr>
            <a:picLocks noChangeAspect="1"/>
          </p:cNvPicPr>
          <p:nvPr/>
        </p:nvPicPr>
        <p:blipFill>
          <a:blip r:embed="rId11"/>
          <a:srcRect l="3712" r="3712"/>
          <a:stretch/>
        </p:blipFill>
        <p:spPr>
          <a:xfrm>
            <a:off x="9253728" y="3858768"/>
            <a:ext cx="950976" cy="2203704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9299448" y="5687568"/>
            <a:ext cx="859536" cy="310896"/>
          </a:xfrm>
          <a:prstGeom prst="roundRect">
            <a:avLst>
              <a:gd name="adj" fmla="val 35294"/>
            </a:avLst>
          </a:prstGeom>
          <a:solidFill>
            <a:srgbClr val="07111F">
              <a:alpha val="85000"/>
            </a:srgbClr>
          </a:solidFill>
          <a:ln w="12700">
            <a:solidFill>
              <a:srgbClr val="39FF14">
                <a:alpha val="30000"/>
              </a:srgbClr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9372600" y="5769864"/>
            <a:ext cx="71323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</a:t>
            </a:r>
            <a:endParaRPr lang="en-US" sz="800" dirty="0"/>
          </a:p>
        </p:txBody>
      </p:sp>
      <p:sp>
        <p:nvSpPr>
          <p:cNvPr id="57" name="Text 46"/>
          <p:cNvSpPr/>
          <p:nvPr/>
        </p:nvSpPr>
        <p:spPr>
          <a:xfrm>
            <a:off x="10424160" y="4663440"/>
            <a:ext cx="1234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566928"/>
          </a:xfrm>
          <a:prstGeom prst="rect">
            <a:avLst/>
          </a:prstGeom>
          <a:solidFill>
            <a:srgbClr val="0D2B27"/>
          </a:solidFill>
          <a:ln w="12700">
            <a:solidFill>
              <a:srgbClr val="0D2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"/>
            <a:ext cx="73152" cy="6181344"/>
          </a:xfrm>
          <a:prstGeom prst="rect">
            <a:avLst/>
          </a:prstGeom>
          <a:solidFill>
            <a:srgbClr val="39FF14">
              <a:alpha val="75000"/>
            </a:srgbClr>
          </a:solidFill>
          <a:ln w="12700">
            <a:solidFill>
              <a:srgbClr val="39F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Demo, Links &amp; Submission Assets</a:t>
            </a:r>
            <a:endParaRPr lang="en-US" sz="1600" dirty="0"/>
          </a:p>
        </p:txBody>
      </p:sp>
      <p:pic>
        <p:nvPicPr>
          <p:cNvPr id="7" name="Image 0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19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65408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9FF14"/>
                </a:solidFill>
              </a:rPr>
              <a:t>OLMEG CONNECT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</a:rPr>
              <a:t>Ready placeholders for APK, Figma, and Firebase screenshots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" y="118872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142999"/>
            <a:ext cx="5166360" cy="4617717"/>
          </a:xfrm>
          <a:prstGeom prst="roundRect">
            <a:avLst>
              <a:gd name="adj" fmla="val 3368"/>
            </a:avLst>
          </a:prstGeom>
          <a:solidFill>
            <a:srgbClr val="11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Links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97280" y="1965960"/>
            <a:ext cx="45720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https://github.com/Youssef-hafez-elmorsy/OLMEG-Connect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Hosting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https://olmeg-connect.web.app</a:t>
            </a: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endParaRPr lang="en-US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APK Link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950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https://drive.google.com/drive/folders/1GoLSewKVjy0WXw75xmQXQQanrdasFpgY?usp=drive_link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Link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95000"/>
              </a:lnSpc>
            </a:pPr>
            <a:r>
              <a:rPr lang="en-US" b="1" i="1" dirty="0">
                <a:solidFill>
                  <a:schemeClr val="bg1">
                    <a:lumMod val="75000"/>
                  </a:schemeClr>
                </a:solidFill>
              </a:rPr>
              <a:t>https://www.figma.com/design/cK4LMDMP5rVPOaLzbJVVuY?node-id=23-2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28816" y="1188720"/>
            <a:ext cx="4892040" cy="4343400"/>
          </a:xfrm>
          <a:prstGeom prst="roundRect">
            <a:avLst>
              <a:gd name="adj" fmla="val 2526"/>
            </a:avLst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0" y="1143000"/>
            <a:ext cx="4892040" cy="4617716"/>
          </a:xfrm>
          <a:prstGeom prst="roundRect">
            <a:avLst>
              <a:gd name="adj" fmla="val 3368"/>
            </a:avLst>
          </a:prstGeom>
          <a:solidFill>
            <a:srgbClr val="17263D"/>
          </a:solidFill>
          <a:ln w="12700">
            <a:solidFill>
              <a:srgbClr val="39FF14">
                <a:alpha val="80000"/>
              </a:srgbClr>
            </a:solidFill>
            <a:prstDash val="solid"/>
          </a:ln>
        </p:spPr>
      </p:sp>
      <p:pic>
        <p:nvPicPr>
          <p:cNvPr id="16" name="Image 1" descr="/mnt/data/olmeg_ap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600200"/>
            <a:ext cx="1463040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3310128"/>
            <a:ext cx="4023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704088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OLMEG CONNECT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39F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you need in one place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040880" y="4800600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dirty="0">
                <a:solidFill>
                  <a:srgbClr val="B6C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Graduation Project • Flutter + Firebase Marketplace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FF14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5402</TotalTime>
  <Words>1930</Words>
  <Application>Microsoft Office PowerPoint</Application>
  <PresentationFormat>Widescreen</PresentationFormat>
  <Paragraphs>499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Egyptian E-Learning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Olmeg Connect</dc:title>
  <dc:subject>Olmeg Connect Graduation Presentation</dc:subject>
  <dc:creator>OpenAI</dc:creator>
  <cp:lastModifiedBy>Joo Elmorsy</cp:lastModifiedBy>
  <cp:revision>4</cp:revision>
  <dcterms:created xsi:type="dcterms:W3CDTF">2026-05-13T10:12:05Z</dcterms:created>
  <dcterms:modified xsi:type="dcterms:W3CDTF">2026-06-19T12:22:57Z</dcterms:modified>
</cp:coreProperties>
</file>